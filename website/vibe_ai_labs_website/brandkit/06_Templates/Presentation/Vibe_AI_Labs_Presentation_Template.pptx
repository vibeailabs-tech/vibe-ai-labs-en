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bbon-background_da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be-ai-labs_horizontal_reversed_10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2F2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5400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D8C4"/>
                </a:solidFill>
                <a:latin typeface="Plus Jakarta Sans"/>
              </a:rPr>
              <a:t>BÀI THUYẾT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2794000"/>
            <a:ext cx="825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FFFFFF"/>
                </a:solidFill>
                <a:latin typeface="Plus Jakarta Sans"/>
              </a:rPr>
              <a:t>Tên bài thuyết trình</a:t>
            </a:r>
          </a:p>
          <a:p>
            <a:pPr algn="l"/>
            <a:r>
              <a:rPr sz="7800" b="1">
                <a:solidFill>
                  <a:srgbClr val="FFFFFF"/>
                </a:solidFill>
                <a:latin typeface="Plus Jakarta Sans"/>
              </a:rPr>
              <a:t>hai dòng tối đa.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826000"/>
            <a:ext cx="762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D9E2F2"/>
                </a:solidFill>
                <a:latin typeface="Inter"/>
              </a:rPr>
              <a:t>Tiêu đề phụ — Marketing × AI × Creative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5969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9E2F2"/>
                </a:solidFill>
                <a:latin typeface="Inter"/>
              </a:rPr>
              <a:t>[Người trình bày] · [Tháng / Năm]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be-ai-labs_horizontal_color_10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667085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14605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563FF"/>
                </a:solidFill>
                <a:latin typeface="Plus Jakarta Sans"/>
              </a:rPr>
              <a:t>NỘI 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841500"/>
            <a:ext cx="7620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0B1026"/>
                </a:solidFill>
                <a:latin typeface="Plus Jakarta Sans"/>
              </a:rPr>
              <a:t>Chương trình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500" y="2984500"/>
            <a:ext cx="7493000" cy="63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984500"/>
            <a:ext cx="63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563FF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2984500"/>
            <a:ext cx="571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1026"/>
                </a:solidFill>
                <a:latin typeface="Plus Jakarta Sans"/>
              </a:rPr>
              <a:t>Bối cảnh &amp; bài toán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3797300"/>
            <a:ext cx="7493000" cy="63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3797300"/>
            <a:ext cx="63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563FF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1000" y="3797300"/>
            <a:ext cx="571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1026"/>
                </a:solidFill>
                <a:latin typeface="Plus Jakarta Sans"/>
              </a:rPr>
              <a:t>Chiến lược &amp; giải pháp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500" y="4610100"/>
            <a:ext cx="7493000" cy="63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000" y="4610100"/>
            <a:ext cx="63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563FF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1000" y="4610100"/>
            <a:ext cx="571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1026"/>
                </a:solidFill>
                <a:latin typeface="Plus Jakarta Sans"/>
              </a:rPr>
              <a:t>Lộ trình triển khai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500" y="5422900"/>
            <a:ext cx="7493000" cy="63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5422900"/>
            <a:ext cx="63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563FF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1000" y="5422900"/>
            <a:ext cx="5715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1026"/>
                </a:solidFill>
                <a:latin typeface="Plus Jakarta Sans"/>
              </a:rPr>
              <a:t>Đo lường &amp; bước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bbon-background_da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be-ai-labs_horizontal_reversed_10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2F2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D9E2F2"/>
                </a:solidFill>
                <a:latin typeface="Inte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905000"/>
            <a:ext cx="5715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0" b="1">
                <a:solidFill>
                  <a:srgbClr val="14D8C4"/>
                </a:solidFill>
                <a:latin typeface="Plus Jakarta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0640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300" b="1">
                <a:solidFill>
                  <a:srgbClr val="FFFFFF"/>
                </a:solidFill>
                <a:latin typeface="Plus Jakarta Sans"/>
              </a:rPr>
              <a:t>Tên phần / chương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48895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D9E2F2"/>
                </a:solidFill>
                <a:latin typeface="Inter"/>
              </a:rPr>
              <a:t>Một câu mô tả ngắn cho phần này.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be-ai-labs_horizontal_color_10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667085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1460500"/>
            <a:ext cx="508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563FF"/>
                </a:solidFill>
                <a:latin typeface="Plus Jakarta Sans"/>
              </a:rPr>
              <a:t>HỆ THỐNG TĂNG TRƯỞNG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778000"/>
            <a:ext cx="952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100" b="1">
                <a:solidFill>
                  <a:srgbClr val="0B1026"/>
                </a:solidFill>
                <a:latin typeface="Plus Jakarta Sans"/>
              </a:rPr>
              <a:t>Ba năng lực. Một hệ thống.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8500" y="2794000"/>
            <a:ext cx="3429000" cy="330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500" y="3048000"/>
            <a:ext cx="711200" cy="711200"/>
          </a:xfrm>
          <a:prstGeom prst="roundRect">
            <a:avLst>
              <a:gd name="adj" fmla="val 27000"/>
            </a:avLst>
          </a:prstGeom>
          <a:solidFill>
            <a:srgbClr val="25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4064000"/>
            <a:ext cx="292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50" b="1">
                <a:solidFill>
                  <a:srgbClr val="0B1026"/>
                </a:solidFill>
                <a:latin typeface="Plus Jakarta Sans"/>
              </a:rPr>
              <a:t>Marketing số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635500"/>
            <a:ext cx="2921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667085"/>
                </a:solidFill>
                <a:latin typeface="Inter"/>
              </a:rPr>
              <a:t>Chiến lược · Thương hiệu · Nội dung · Mạng xã hội · Website · Performance · SEO · PR · Dữ liệu · Thương mại điện tử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2794000"/>
            <a:ext cx="3429000" cy="330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5500" y="3048000"/>
            <a:ext cx="711200" cy="711200"/>
          </a:xfrm>
          <a:prstGeom prst="roundRect">
            <a:avLst>
              <a:gd name="adj" fmla="val 27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5500" y="4064000"/>
            <a:ext cx="292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50" b="1">
                <a:solidFill>
                  <a:srgbClr val="0B1026"/>
                </a:solidFill>
                <a:latin typeface="Plus Jakarta Sans"/>
              </a:rPr>
              <a:t>AI &amp; Tự động hóa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500" y="4635500"/>
            <a:ext cx="2921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667085"/>
                </a:solidFill>
                <a:latin typeface="Inter"/>
              </a:rPr>
              <a:t>Tư vấn AI · AI Agent · Chatbot &amp; trợ lý · AI tạo sinh · Tích hợp &amp; tự động hóa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4500" y="2794000"/>
            <a:ext cx="3429000" cy="330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18500" y="3048000"/>
            <a:ext cx="711200" cy="711200"/>
          </a:xfrm>
          <a:prstGeom prst="roundRect">
            <a:avLst>
              <a:gd name="adj" fmla="val 27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8500" y="4064000"/>
            <a:ext cx="292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50" b="1">
                <a:solidFill>
                  <a:srgbClr val="0B1026"/>
                </a:solidFill>
                <a:latin typeface="Plus Jakarta Sans"/>
              </a:rPr>
              <a:t>Thiết kế &amp; Sáng tạo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500" y="4635500"/>
            <a:ext cx="2921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667085"/>
                </a:solidFill>
                <a:latin typeface="Inter"/>
              </a:rPr>
              <a:t>Nhận diện · Đồ họa · Minh họa · Nhiếp ảnh &amp; video · Sản xuất bằng AI tạo sinh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-lines_da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be-ai-labs_horizontal_reversed_10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2F2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D9E2F2"/>
                </a:solidFill>
                <a:latin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460500"/>
            <a:ext cx="508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4D8C4"/>
                </a:solidFill>
                <a:latin typeface="Plus Jakarta Sans"/>
              </a:rPr>
              <a:t>PHƯƠNG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778000"/>
            <a:ext cx="1079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lus Jakarta Sans"/>
              </a:rPr>
              <a:t>Audit. Build. Automate. Grow.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8500" y="2984500"/>
            <a:ext cx="2603500" cy="2794000"/>
          </a:xfrm>
          <a:prstGeom prst="roundRect">
            <a:avLst>
              <a:gd name="adj" fmla="val 8000"/>
            </a:avLst>
          </a:prstGeom>
          <a:solidFill>
            <a:srgbClr val="1B2347"/>
          </a:solidFill>
          <a:ln w="9525">
            <a:solidFill>
              <a:srgbClr val="3A4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100" y="32385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>
                <a:solidFill>
                  <a:srgbClr val="14D8C4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100" y="3873500"/>
            <a:ext cx="2159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Plus Jakarta Sans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100" y="4445000"/>
            <a:ext cx="215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D9E2F2"/>
                </a:solidFill>
                <a:latin typeface="Inter"/>
              </a:rPr>
              <a:t>Đánh giá hiện trạng: thị trường, khách hàng, dữ liệu, quy trình.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100" y="2984500"/>
            <a:ext cx="2603500" cy="2794000"/>
          </a:xfrm>
          <a:prstGeom prst="roundRect">
            <a:avLst>
              <a:gd name="adj" fmla="val 8000"/>
            </a:avLst>
          </a:prstGeom>
          <a:solidFill>
            <a:srgbClr val="1B2347"/>
          </a:solidFill>
          <a:ln w="9525">
            <a:solidFill>
              <a:srgbClr val="3A4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5700" y="32385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>
                <a:solidFill>
                  <a:srgbClr val="14D8C4"/>
                </a:solidFill>
                <a:latin typeface="Plus Jakarta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00" y="3873500"/>
            <a:ext cx="2159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Plus Jakarta San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4445000"/>
            <a:ext cx="215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D9E2F2"/>
                </a:solidFill>
                <a:latin typeface="Inter"/>
              </a:rPr>
              <a:t>Xây nền tảng: chiến lược, thương hiệu, nội dung, đo lường.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5700" y="2984500"/>
            <a:ext cx="2603500" cy="2794000"/>
          </a:xfrm>
          <a:prstGeom prst="roundRect">
            <a:avLst>
              <a:gd name="adj" fmla="val 8000"/>
            </a:avLst>
          </a:prstGeom>
          <a:solidFill>
            <a:srgbClr val="1B2347"/>
          </a:solidFill>
          <a:ln w="9525">
            <a:solidFill>
              <a:srgbClr val="3A4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300" y="32385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>
                <a:solidFill>
                  <a:srgbClr val="14D8C4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300" y="3873500"/>
            <a:ext cx="2159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Plus Jakarta Sans"/>
              </a:rPr>
              <a:t>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300" y="4445000"/>
            <a:ext cx="215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D9E2F2"/>
                </a:solidFill>
                <a:latin typeface="Inter"/>
              </a:rPr>
              <a:t>Kết nối hệ thống, AI Agent, chatbot và quy trình tự động.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4300" y="2984500"/>
            <a:ext cx="2603500" cy="2794000"/>
          </a:xfrm>
          <a:prstGeom prst="roundRect">
            <a:avLst>
              <a:gd name="adj" fmla="val 8000"/>
            </a:avLst>
          </a:prstGeom>
          <a:solidFill>
            <a:srgbClr val="1B2347"/>
          </a:solidFill>
          <a:ln w="9525">
            <a:solidFill>
              <a:srgbClr val="3A4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2900" y="32385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>
                <a:solidFill>
                  <a:srgbClr val="14D8C4"/>
                </a:solidFill>
                <a:latin typeface="Plus Jakarta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2900" y="3873500"/>
            <a:ext cx="2159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Plus Jakarta Sans"/>
              </a:rPr>
              <a:t>Grow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900" y="4445000"/>
            <a:ext cx="215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75" b="0">
                <a:solidFill>
                  <a:srgbClr val="D9E2F2"/>
                </a:solidFill>
                <a:latin typeface="Inter"/>
              </a:rPr>
              <a:t>Thử nghiệm, đo lường và tối ưu theo dữ liệu thực tế.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be-ai-labs_horizontal_color_10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667085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14605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563FF"/>
                </a:solidFill>
                <a:latin typeface="Plus Jakarta Sans"/>
              </a:rPr>
              <a:t>CHỦ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778000"/>
            <a:ext cx="952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0B1026"/>
                </a:solidFill>
                <a:latin typeface="Plus Jakarta Sans"/>
              </a:rPr>
              <a:t>Tiêu đề nội dung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2857500"/>
            <a:ext cx="5715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0">
                <a:solidFill>
                  <a:srgbClr val="111827"/>
                </a:solidFill>
                <a:latin typeface="Inter"/>
              </a:rPr>
              <a:t>•  Điểm chính thứ nhất — một câu ngắn, có động từ cụ thể.</a:t>
            </a:r>
          </a:p>
          <a:p>
            <a:pPr algn="l"/>
            <a:r>
              <a:rPr sz="2550" b="0">
                <a:solidFill>
                  <a:srgbClr val="111827"/>
                </a:solidFill>
                <a:latin typeface="Inter"/>
              </a:rPr>
              <a:t>•  Điểm chính thứ hai — dẫn bằng bằng chứng hoặc số liệu.</a:t>
            </a:r>
          </a:p>
          <a:p>
            <a:pPr algn="l"/>
            <a:r>
              <a:rPr sz="2550" b="0">
                <a:solidFill>
                  <a:srgbClr val="111827"/>
                </a:solidFill>
                <a:latin typeface="Inter"/>
              </a:rPr>
              <a:t>•  Điểm chính thứ ba — kết thúc bằng hành động tiếp theo.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85000" y="1651000"/>
            <a:ext cx="4508500" cy="406400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 w="9525">
            <a:solidFill>
              <a:srgbClr val="D9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0" y="3556000"/>
            <a:ext cx="450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b="0">
                <a:solidFill>
                  <a:srgbClr val="667085"/>
                </a:solidFill>
                <a:latin typeface="Inter"/>
              </a:rPr>
              <a:t>Khu vực hình ảnh / biểu đồ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-lines_da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be-ai-labs_horizontal_reversed_10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2F2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D9E2F2"/>
                </a:solidFill>
                <a:latin typeface="Inter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4605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4D8C4"/>
                </a:solidFill>
                <a:latin typeface="Plus Jakarta Sans"/>
              </a:rPr>
              <a:t>KẾT QUẢ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778000"/>
            <a:ext cx="952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lus Jakarta Sans"/>
              </a:rPr>
              <a:t>Con số nói lên điều gì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3048000"/>
            <a:ext cx="3556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14D8C4"/>
                </a:solidFill>
                <a:latin typeface="Plus Jakarta Sans"/>
              </a:rPr>
              <a:t>+00%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4381500"/>
            <a:ext cx="3556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>
                <a:solidFill>
                  <a:srgbClr val="FFFFFF"/>
                </a:solidFill>
                <a:latin typeface="Plus Jakarta Sans"/>
              </a:rPr>
              <a:t>Chỉ số thứ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4730750"/>
            <a:ext cx="355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>
                <a:solidFill>
                  <a:srgbClr val="D9E2F2"/>
                </a:solidFill>
                <a:latin typeface="Inter"/>
              </a:rPr>
              <a:t>Nguồn · thời gian đo (chỉ dùng số liệu xác minh)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5000" y="3048000"/>
            <a:ext cx="3556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14D8C4"/>
                </a:solidFill>
                <a:latin typeface="Plus Jakarta Sans"/>
              </a:rPr>
              <a:t>00×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4381500"/>
            <a:ext cx="3556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>
                <a:solidFill>
                  <a:srgbClr val="FFFFFF"/>
                </a:solidFill>
                <a:latin typeface="Plus Jakarta Sans"/>
              </a:rPr>
              <a:t>Chỉ số thứ 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5000" y="4730750"/>
            <a:ext cx="355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>
                <a:solidFill>
                  <a:srgbClr val="D9E2F2"/>
                </a:solidFill>
                <a:latin typeface="Inter"/>
              </a:rPr>
              <a:t>Nguồn · thời gian đo (chỉ dùng số liệu xác minh)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3048000"/>
            <a:ext cx="3556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14D8C4"/>
                </a:solidFill>
                <a:latin typeface="Plus Jakarta Sans"/>
              </a:rPr>
              <a:t>−00%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4381500"/>
            <a:ext cx="3556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>
                <a:solidFill>
                  <a:srgbClr val="FFFFFF"/>
                </a:solidFill>
                <a:latin typeface="Plus Jakarta Sans"/>
              </a:rPr>
              <a:t>Chỉ số thứ 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4730750"/>
            <a:ext cx="355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>
                <a:solidFill>
                  <a:srgbClr val="D9E2F2"/>
                </a:solidFill>
                <a:latin typeface="Inter"/>
              </a:rPr>
              <a:t>Nguồn · thời gian đo (chỉ dùng số liệu xác minh)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bbon-background_da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be-ai-labs_horizontal_reversed_10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2F2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D9E2F2"/>
                </a:solidFill>
                <a:latin typeface="Inter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651000"/>
            <a:ext cx="190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0" b="1">
                <a:solidFill>
                  <a:srgbClr val="14D8C4"/>
                </a:solidFill>
                <a:latin typeface="Plus Jakarta Sans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2794000"/>
            <a:ext cx="8255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lus Jakarta Sans"/>
              </a:rPr>
              <a:t>Nội dung nhận xét của khách hàng đặt tại đây —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Plus Jakarta Sans"/>
              </a:rPr>
              <a:t>ngắn gọn, cụ thể và có kết quả.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4381500"/>
            <a:ext cx="5715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>
                <a:solidFill>
                  <a:srgbClr val="FFFFFF"/>
                </a:solidFill>
                <a:latin typeface="Plus Jakarta Sans"/>
              </a:rPr>
              <a:t>Tên khách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7000" y="4699000"/>
            <a:ext cx="571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0">
                <a:solidFill>
                  <a:srgbClr val="D9E2F2"/>
                </a:solidFill>
                <a:latin typeface="Inter"/>
              </a:rPr>
              <a:t>Chức vụ · Doanh nghiệp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bbon-background_dark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be-ai-labs_horizontal_reversed_1000p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6400"/>
            <a:ext cx="1749102" cy="29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641350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9E2F2"/>
                </a:solidFill>
                <a:latin typeface="Inter"/>
              </a:rPr>
              <a:t>Vibe AI Labs · Ideas. Intelligence. Real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3500" y="6413500"/>
            <a:ext cx="127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D9E2F2"/>
                </a:solidFill>
                <a:latin typeface="Inter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905000"/>
            <a:ext cx="952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FFFFFF"/>
                </a:solidFill>
                <a:latin typeface="Plus Jakarta Sans"/>
              </a:rPr>
              <a:t>Cùng xây dựng</a:t>
            </a:r>
          </a:p>
          <a:p>
            <a:pPr algn="l"/>
            <a:r>
              <a:rPr sz="7800" b="1">
                <a:solidFill>
                  <a:srgbClr val="FFFFFF"/>
                </a:solidFill>
                <a:latin typeface="Plus Jakarta Sans"/>
              </a:rPr>
              <a:t>điều tiếp theo.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000500"/>
            <a:ext cx="889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D9E2F2"/>
                </a:solidFill>
                <a:latin typeface="Inter"/>
              </a:rPr>
              <a:t>Trao đổi với Vibe AI Labs để xác định bài toán và xây dựng giải pháp phù hợp.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4635500"/>
            <a:ext cx="889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Inter"/>
              </a:rPr>
              <a:t>vibeailabs@gmail.com</a:t>
            </a:r>
          </a:p>
          <a:p>
            <a:pPr algn="l"/>
            <a:r>
              <a:rPr sz="2250" b="1">
                <a:solidFill>
                  <a:srgbClr val="FFFFFF"/>
                </a:solidFill>
                <a:latin typeface="Inter"/>
              </a:rPr>
              <a:t>vibe-ai-labs.vibeailabs.workers.dev</a:t>
            </a:r>
          </a:p>
          <a:p>
            <a:pPr algn="l"/>
            <a:r>
              <a:rPr sz="2250" b="1">
                <a:solidFill>
                  <a:srgbClr val="FFFFFF"/>
                </a:solidFill>
                <a:latin typeface="Inter"/>
              </a:rPr>
              <a:t>WORC@Q2 Building, 21 Võ Trường Toản, An Khánh, TP. Hồ Chí Minh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